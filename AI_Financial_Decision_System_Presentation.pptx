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548640"/>
            <a:ext cx="530352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48640"/>
            <a:ext cx="54864" cy="3840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🏦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Final Year Project — B.Sc Artificial Intelligence &amp; Data Science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KPR College of Arts, Science and 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Soniya T  ·  Sathurthika Devi S  ·  Selvakkumar TK  ·  Sri Anbukarasi 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640080"/>
            <a:ext cx="27432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685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93%+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80760" y="1078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Loan Model AUC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7432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99%+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039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Fraud Model AUC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560320"/>
            <a:ext cx="27432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2,000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2999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Training Records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27432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566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80760" y="3959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Core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 &amp;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Industry 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Traditional banks use rule-based manual credit scoring — slow, biased, and inaccurate for 1.7B unbanked people globally.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6052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8686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Data Opportunity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5272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Modern customers generate vast digital footprints: mobile usage, transaction history, behavioral patterns — ML can extract signal.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16052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Real-Time Need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Financial fraud causes $5T+ in global losses annually. Rule-based systems can't keep up with sophisticated fraud rings.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697480"/>
            <a:ext cx="416052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788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7889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1729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 end-to-end AI system using Random Forest (loans) and Gradient Boosting (fraud) to make fair, fast, explainable decisions.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Altman (1968)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13385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Z-score model — first quantitative credit risk assessment using financial ratios. Foundation of modern scoring.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74980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841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Chen &amp; Guestrin (2016)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13385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XGBoost — gradient boosting framework. Shown to outperform logistic regression in credit default prediction.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7568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167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Fischer &amp; Krauss (2018)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459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LSTM networks for stock price forecasting. Demonstrated 55.9% directional accuracy on S&amp;P 500.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07568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07568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167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Lundberg &amp; Lee (2017)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245973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SHAP values — unified framework for explaining ML model predictions. Critical for regulatory compliance.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40156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0156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World Bank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" y="378561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in financial inclusion report — ML enables credit access for 500M+ previously unbanked individuals.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401568"/>
            <a:ext cx="416052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401568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IMF Working Paper (2024)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78561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FinTech and AI in developing economies — mobile-first AI banking can leapfrog conventional infrastructure.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60020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📥 Data 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527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CSV Upload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Manual Entry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API Feed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01952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65960" y="777240"/>
            <a:ext cx="160020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8686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🧹 Data Cleaning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2527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Handle Nulls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Type Casting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Range Clipping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93592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777240"/>
            <a:ext cx="160020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8686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⚙️ Feature Eng.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12527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Encoding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Scaling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Selection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85232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49240" y="777240"/>
            <a:ext cx="160020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8686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🤖 ML Models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12527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RandomForest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GradBoost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LogReg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76872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40880" y="777240"/>
            <a:ext cx="160020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8686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📊 Output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2527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Prediction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Explanation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Download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Key Technical Choices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788920"/>
            <a:ext cx="41605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StandardScaler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Normalizes all features to zero mean, unit variance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1605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34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80/20 Split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834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Stratified train/test split preserving class balance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41605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joblib .pkl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74520" y="37033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Serialized models for instant deployment without retraining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16052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Streamlit UI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7033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Interactive web interface with dark theme, charts, login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ML Techniques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371600" cy="566928"/>
          </a:xfrm>
          <a:prstGeom prst="rect">
            <a:avLst/>
          </a:prstGeom>
          <a:solidFill>
            <a:srgbClr val="0EA5E9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315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Algorithm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685800"/>
            <a:ext cx="1280160" cy="566928"/>
          </a:xfrm>
          <a:prstGeom prst="rect">
            <a:avLst/>
          </a:prstGeom>
          <a:solidFill>
            <a:srgbClr val="0EA5E9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731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Task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685800"/>
            <a:ext cx="2743200" cy="566928"/>
          </a:xfrm>
          <a:prstGeom prst="rect">
            <a:avLst/>
          </a:prstGeom>
          <a:solidFill>
            <a:srgbClr val="0EA5E9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384" y="7315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Advantage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06440" y="685800"/>
            <a:ext cx="1828800" cy="566928"/>
          </a:xfrm>
          <a:prstGeom prst="rect">
            <a:avLst/>
          </a:prstGeom>
          <a:solidFill>
            <a:srgbClr val="0EA5E9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61304" y="731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Limitation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685800"/>
            <a:ext cx="731520" cy="566928"/>
          </a:xfrm>
          <a:prstGeom prst="rect">
            <a:avLst/>
          </a:prstGeom>
          <a:solidFill>
            <a:srgbClr val="0EA5E9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73152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AUC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252728"/>
            <a:ext cx="13716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29844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91640" y="1252728"/>
            <a:ext cx="128016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6504" y="12984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Loan Approval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0" y="1252728"/>
            <a:ext cx="27432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12984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High accuracy, handles missing data, feature importances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06440" y="1252728"/>
            <a:ext cx="18288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61304" y="129844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Limited interpretability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80960" y="1252728"/>
            <a:ext cx="73152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35824" y="1298448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0.932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819656"/>
            <a:ext cx="13716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8653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Gradient Boosting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1819656"/>
            <a:ext cx="128016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46504" y="18653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Fraud Detection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1819656"/>
            <a:ext cx="27432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186537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Excellent anomaly detection, sequential error correction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06440" y="1819656"/>
            <a:ext cx="18288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61304" y="186537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Prone to overfitting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80960" y="1819656"/>
            <a:ext cx="73152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5824" y="1865376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0.998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2386584"/>
            <a:ext cx="13716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43230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Logistic Regression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91640" y="2386584"/>
            <a:ext cx="128016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46504" y="243230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Baseline/Explainable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2386584"/>
            <a:ext cx="27432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72384" y="243230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Fully interpretable, fast inference, probabilistic output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06440" y="2386584"/>
            <a:ext cx="18288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61304" y="243230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Linear decision boundary only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80960" y="2386584"/>
            <a:ext cx="73152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35824" y="243230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0.812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953512"/>
            <a:ext cx="13716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9992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LSTM Network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91640" y="2953512"/>
            <a:ext cx="128016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46504" y="299923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Time Series (future)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017520" y="2953512"/>
            <a:ext cx="27432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72384" y="29992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Captures temporal dependencies, sequential patterns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06440" y="2953512"/>
            <a:ext cx="182880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61304" y="29992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Computationally expensive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680960" y="2953512"/>
            <a:ext cx="73152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35824" y="2999232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0.871*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3520440"/>
            <a:ext cx="13716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5661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Graph Neural Net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91640" y="3520440"/>
            <a:ext cx="128016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46504" y="35661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Fraud Networks (future)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017520" y="3520440"/>
            <a:ext cx="27432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72384" y="3566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Detects coordinated fraud rings via graph relationships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06440" y="3520440"/>
            <a:ext cx="182880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61304" y="3566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Scalability challenges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3520440"/>
            <a:ext cx="731520" cy="566928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35824" y="356616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0.951*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" y="45720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</a:rPr>
              <a:t>* Projected performance on financial datasets (literature)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System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8961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406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🔐 Secure Login &amp; Registration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069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Role-based access: Admin, Analyst, Viewer. Session management with username/password authentication.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685800"/>
            <a:ext cx="54864" cy="8961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7406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📂 CSV Bulk Upload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069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Upload thousands of customer records at once. Automatic column detection, data cleaning, and batch prediction.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9164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91640"/>
            <a:ext cx="54864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746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🧹 Automatic Data Cleaning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Handles missing values, type casting, range clipping, education encoding — no preprocessing needed.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691640"/>
            <a:ext cx="54864" cy="89611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746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🤖 Loan Approval Prediction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Random Forest model trained on 9 features. Returns approval probability, decision, and risk rating.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97480"/>
            <a:ext cx="54864" cy="89611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752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💳 Real-Time Fraud Detection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081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Gradient Boosting model analyzes 6 transaction signals. Flags suspicious activity within milliseconds.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69748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697480"/>
            <a:ext cx="54864" cy="8961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752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📊 Interactive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081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Live KPI metrics, model accuracy charts, ROC curves, and performance comparison visualizations.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03320"/>
            <a:ext cx="54864" cy="89611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3758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👤 Individual Risk Analysis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Comprehensive risk report per customer combining loan and fraud scores into a unified risk profile.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4206240" cy="896112"/>
          </a:xfrm>
          <a:prstGeom prst="rect">
            <a:avLst>
              <a:gd name="adj" fmla="val 816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703320"/>
            <a:ext cx="54864" cy="89611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758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📥 Download Results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Export all prediction results with probabilities, decisions, and risk labels as CSV files.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Loan Approval Model —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0.932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AUC 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0.927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0.750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Precision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0.651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 Score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Feature Importances (Random Forest)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Credit Score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93392" y="2130552"/>
            <a:ext cx="1364612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376292" y="2103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37.3%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4320" y="2404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Income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93392" y="2432304"/>
            <a:ext cx="794086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2805766" y="24048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21.7%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Employment Years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993392" y="2734056"/>
            <a:ext cx="390307" cy="18288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6" name="Text 24"/>
          <p:cNvSpPr/>
          <p:nvPr/>
        </p:nvSpPr>
        <p:spPr>
          <a:xfrm>
            <a:off x="2401987" y="2706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10.7%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3008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Missed Payments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93392" y="3035808"/>
            <a:ext cx="27280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284482" y="3008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7.5%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Debt To Income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93392" y="3337560"/>
            <a:ext cx="254973" cy="1828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2266653" y="33101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7.0%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36118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Loan Amount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93392" y="3639312"/>
            <a:ext cx="199809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2211489" y="3611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5.5%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4320" y="3913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93392" y="3941064"/>
            <a:ext cx="191391" cy="1828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8" name="Text 36"/>
          <p:cNvSpPr/>
          <p:nvPr/>
        </p:nvSpPr>
        <p:spPr>
          <a:xfrm>
            <a:off x="2203071" y="39136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5.2%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4215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Num Credit Lines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93392" y="4242816"/>
            <a:ext cx="125932" cy="18288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41" name="Text 39"/>
          <p:cNvSpPr/>
          <p:nvPr/>
        </p:nvSpPr>
        <p:spPr>
          <a:xfrm>
            <a:off x="2137612" y="42153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3.4%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74320" y="4517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Education Num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93392" y="4544568"/>
            <a:ext cx="63689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2075369" y="45171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1.7%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292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Pred No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2376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Pred Yes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0" y="269748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No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26480" y="2697480"/>
            <a:ext cx="1051560" cy="530352"/>
          </a:xfrm>
          <a:prstGeom prst="rect">
            <a:avLst/>
          </a:prstGeom>
          <a:solidFill>
            <a:srgbClr val="064E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344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23760" y="2697480"/>
            <a:ext cx="1051560" cy="530352"/>
          </a:xfrm>
          <a:prstGeom prst="rect">
            <a:avLst/>
          </a:prstGeom>
          <a:solidFill>
            <a:srgbClr val="7F1D1D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029200" y="329184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Yes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3291840"/>
            <a:ext cx="1051560" cy="530352"/>
          </a:xfrm>
          <a:prstGeom prst="rect">
            <a:avLst/>
          </a:prstGeom>
          <a:solidFill>
            <a:srgbClr val="7F1D1D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20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223760" y="3291840"/>
            <a:ext cx="1051560" cy="530352"/>
          </a:xfrm>
          <a:prstGeom prst="rect">
            <a:avLst/>
          </a:prstGeom>
          <a:solidFill>
            <a:srgbClr val="064E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27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7432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Algorithm: Random Forest  |  100 estimators  |  Max depth: 8  |  Trained on 1,600 samples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Fraud Detection Model —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0.998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AUC 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0.993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0.333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Precision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685800"/>
            <a:ext cx="2011680" cy="9144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7498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0.500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Feature Importances (Gradient Boosting)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Num Txn Today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84832" y="2148840"/>
            <a:ext cx="1397768" cy="2286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3500888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34.0%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Hour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84832" y="2560320"/>
            <a:ext cx="1293343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396463" y="2514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31.4%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Txn Amount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84832" y="2971800"/>
            <a:ext cx="66221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2765330" y="2926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16.1%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Distance From Home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84832" y="3383280"/>
            <a:ext cx="60914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2712260" y="3337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14.8%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" y="3749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Foreign Txn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84832" y="3794760"/>
            <a:ext cx="151230" cy="22860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2" name="Text 30"/>
          <p:cNvSpPr/>
          <p:nvPr/>
        </p:nvSpPr>
        <p:spPr>
          <a:xfrm>
            <a:off x="225435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3.7%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Avg Daily Spend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84832" y="4206240"/>
            <a:ext cx="1109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2104229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0.0%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Pred No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23760" y="210312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Pred Yes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0" y="269748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No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26480" y="2697480"/>
            <a:ext cx="1051560" cy="530352"/>
          </a:xfrm>
          <a:prstGeom prst="rect">
            <a:avLst/>
          </a:prstGeom>
          <a:solidFill>
            <a:srgbClr val="064E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396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223760" y="2697480"/>
            <a:ext cx="1051560" cy="530352"/>
          </a:xfrm>
          <a:prstGeom prst="rect">
            <a:avLst/>
          </a:prstGeom>
          <a:solidFill>
            <a:srgbClr val="7F1D1D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27889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0" y="3291840"/>
            <a:ext cx="1051560" cy="530352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Actual Yes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26480" y="3291840"/>
            <a:ext cx="1051560" cy="530352"/>
          </a:xfrm>
          <a:prstGeom prst="rect">
            <a:avLst/>
          </a:prstGeom>
          <a:solidFill>
            <a:srgbClr val="7F1D1D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23760" y="3291840"/>
            <a:ext cx="1051560" cy="530352"/>
          </a:xfrm>
          <a:prstGeom prst="rect">
            <a:avLst/>
          </a:prstGeom>
          <a:solidFill>
            <a:srgbClr val="064E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Algorithm: Gradient Boosting  |  100 estimators  |  Max depth: 5  |  Handles class imbalance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Real-World Case Studies (from Chapter)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834640" cy="3977640"/>
          </a:xfrm>
          <a:prstGeom prst="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283464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13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JPMorgan Chase — COIN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418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360,000 hrs → Seconds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" y="1261872"/>
            <a:ext cx="7315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25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Contract Intelligence uses NLP to review commercial loan agreements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975104"/>
            <a:ext cx="7315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Processes in seconds what took lawyers 360,000+ hours/year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688336"/>
            <a:ext cx="7315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Accuracy exceeds human reviewers on compliance flagging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3401568"/>
            <a:ext cx="7315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364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Scaled to 1,500+ data scientists and ML engineers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685800"/>
            <a:ext cx="2834640" cy="3977640"/>
          </a:xfrm>
          <a:prstGeom prst="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685800"/>
            <a:ext cx="283464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713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Ant Financial — Zhima Credit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9418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3,000 Variables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55848" y="1261872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502152" y="1225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Alternative credit scoring using 3,000+ digital footprint variables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55848" y="1975104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Extended micro-loans to 500M+ customers without credit history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5848" y="2688336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502152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Processes loan applications in under 3 seconds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55848" y="3401568"/>
            <a:ext cx="73152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02152" y="3364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Default rates significantly below industry average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685800"/>
            <a:ext cx="2834640" cy="3977640"/>
          </a:xfrm>
          <a:prstGeom prst="rect">
            <a:avLst>
              <a:gd name="adj" fmla="val 258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685800"/>
            <a:ext cx="2834640" cy="5029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713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PayPal — Fraud Detection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9418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0.30% Fraud Loss Rate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27648" y="1261872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1225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Processes 15M+ transactions daily across 200 countries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27648" y="1975104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19385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Deep learning analyzes 100s of signals per transaction in milliseconds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27648" y="2688336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Fraud loss rate of 0.30% vs industry average of 1.5-2.5%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27648" y="3401568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33649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Saves billions annually vs rule-based systems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Challenges &amp; Ethical Considerations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Black Box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Complex models lack transparency. Addressed using SHAP values and LIME for feature-level explanations.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412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8412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Algorithmic Bias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Historical data can perpetuate discrimination. Requires bias detection across demographic groups before deployment.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412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8412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Data Privacy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280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Sensitive financial data requires protection. Federated learning enables model training without centralizing data.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61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27614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Regulatory Compliance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EU GDPR and AI Act mandate explainable automated decisions. RegTech NLP automates compliance monitoring.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61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94760" y="27614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AI Divide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Smaller banks lack access to sophisticated AI. Open-source tools and shared datasets can democratize access.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761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0840" y="27614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Model Robustness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Adversarial attacks can fool ML fraud detectors. Continuous retraining and anomaly thresholds are essential.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Future Directions &amp; Emerging Trends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96112" y="932688"/>
            <a:ext cx="27432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859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Quantum 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Quantum computing + ML for exponential optimization in portfolio management and risk modeling.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22192" y="932688"/>
            <a:ext cx="27432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632" y="859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Generative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2984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LLMs for financial report generation, regulatory compliance automation, and personalized advisory.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74980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48272" y="932688"/>
            <a:ext cx="27432" cy="32004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8" name="Text 16"/>
          <p:cNvSpPr/>
          <p:nvPr/>
        </p:nvSpPr>
        <p:spPr>
          <a:xfrm>
            <a:off x="6839712" y="859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DeFi +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2984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Blockchain-based autonomous financial protocols with AI for transparent, trustless decision-making.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6112" y="2852928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Edge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218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Real-time risk assessment at point-of-transaction using edge computing — dramatically reduces systemic risk.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22192" y="2852928"/>
            <a:ext cx="27432" cy="3200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3913632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ESG Finance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218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ML models quantifying Environmental, Social, and Governance risks to support sustainable investment.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2670048"/>
            <a:ext cx="2743200" cy="1737360"/>
          </a:xfrm>
          <a:prstGeom prst="rect">
            <a:avLst>
              <a:gd name="adj" fmla="val 4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748272" y="2852928"/>
            <a:ext cx="27432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839712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RegTech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218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NLP systems monitoring regulatory changes and automating compliance reporting across jurisdictions.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Conclusion &amp; Policy Implications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📌 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789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Random Forest achieves 93%+ AUC for loan approval prediction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28216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691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Gradient Boosting achieves 99%+ AUC for fraud detection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3042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ML reduces loan default rates by 20-35% vs traditional models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9169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enables credit access for 500M+ previously unbanked individuals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73152" cy="731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352958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fraud detection at 95%+ accuracy with low false positives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731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📋 Policy Implications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78992"/>
            <a:ext cx="4114800" cy="621792"/>
          </a:xfrm>
          <a:prstGeom prst="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1556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Regulators: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0" y="111556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Develop adaptive frameworks encouraging innovation with clear consumer protection standards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4114800" cy="621792"/>
          </a:xfrm>
          <a:prstGeom prst="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1965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Institutions: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18196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Invest in explainable AI (XAI) governance and federated learning for privacy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4114800" cy="621792"/>
          </a:xfrm>
          <a:prstGeom prst="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52374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Researchers: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69280" y="25237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Interdisciplinary studies bridging CS, finance, ethics, and public policy needed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191256"/>
            <a:ext cx="4114800" cy="621792"/>
          </a:xfrm>
          <a:prstGeom prst="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2783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Developers: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0" y="322783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Prioritize fairness, bias detection, and standardized model documentation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895344"/>
            <a:ext cx="4114800" cy="621792"/>
          </a:xfrm>
          <a:prstGeom prst="rect">
            <a:avLst>
              <a:gd name="adj" fmla="val 1176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319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Society: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0" y="39319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Digital literacy programs for meaningful AI consent and independent auditing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"The ultimate measure of AI in finance is not technological sophistication,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but contribution to a more equitable, stable, and sustainable global financial system."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Financial Decision System  |  B.Sc AI &amp; Data Science  |  KPR College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6949440" cy="4023360"/>
          </a:xfrm>
          <a:prstGeom prst="rect">
            <a:avLst>
              <a:gd name="adj" fmla="val 181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57200"/>
            <a:ext cx="69494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7772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Thank You!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Questions &amp; Discussion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0604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Soniya T  ·  soniya.25bscaids@kprcas.ac.in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289864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Sathurthika Devi S  ·  sathurthikadevi.25bscaids@kprcas.ac.in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319125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Selvakkumar TK  ·  selvakkumar.25bscaids@kprcas.ac.in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348386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Sri Anbukarasi D  ·  srianbukarasi.25bscaids@kprcas.ac.in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B.Sc AI &amp; Data Science  |  KPR College of Arts, Science and Research  |  2024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2026-07-10T09:37:33Z</dcterms:created>
  <dcterms:modified xsi:type="dcterms:W3CDTF">2026-07-10T09:37:33Z</dcterms:modified>
</cp:coreProperties>
</file>